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28800425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jnAajT4IcwA01/kfT9jSiO9mwi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66" orient="horz"/>
        <p:guide pos="54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OpenSans-boldItalic.fntdata"/><Relationship Id="rId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860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b="1" sz="7623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67436" lvl="0" marL="4572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indent="-519049" lvl="1" marL="9144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indent="-470599" lvl="2" marL="1371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indent="-446405" lvl="3" marL="1828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indent="-446405" lvl="4" marL="22860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indent="-446405" lvl="5" marL="27432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indent="-446405" lvl="6" marL="32004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indent="-446405" lvl="7" marL="3657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indent="-446405" lvl="8" marL="41148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b="1" sz="4574"/>
            </a:lvl1pPr>
            <a:lvl2pPr indent="-228600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b="1" sz="3811"/>
            </a:lvl2pPr>
            <a:lvl3pPr indent="-228600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b="1" sz="3430"/>
            </a:lvl3pPr>
            <a:lvl4pPr indent="-228600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4pPr>
            <a:lvl5pPr indent="-228600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5pPr>
            <a:lvl6pPr indent="-228600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6pPr>
            <a:lvl7pPr indent="-228600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7pPr>
            <a:lvl8pPr indent="-228600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8pPr>
            <a:lvl9pPr indent="-228600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b="1" sz="3049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19049" lvl="0" marL="4572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indent="-470599" lvl="1" marL="914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indent="-446405" lvl="2" marL="1371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indent="-422212" lvl="3" marL="1828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indent="-422211" lvl="4" marL="22860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indent="-422211" lvl="5" marL="27432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indent="-422211" lvl="6" marL="32004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indent="-422211" lvl="7" marL="3657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indent="-422211" lvl="8" marL="41148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indent="-567436" lvl="1" marL="91440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indent="-519049" lvl="2" marL="1371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indent="-470599" lvl="3" marL="1828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indent="-470598" lvl="4" marL="22860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indent="-470598" lvl="5" marL="27432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indent="-470598" lvl="6" marL="32004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indent="-470598" lvl="7" marL="3657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indent="-470598" lvl="8" marL="41148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b="1" sz="381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indent="-228600" lvl="1" marL="9144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indent="-228600" lvl="2" marL="1371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indent="-228600" lvl="3" marL="1828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indent="-228600" lvl="4" marL="22860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indent="-228600" lvl="5" marL="27432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indent="-228600" lvl="6" marL="32004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indent="-228600" lvl="7" marL="3657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indent="-228600" lvl="8" marL="41148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b="0" i="0" sz="83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615823" lvl="0" marL="457200" marR="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b="0" i="0" sz="60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67436" lvl="1" marL="914400" marR="0" rtl="0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b="0" i="0" sz="533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19049" lvl="2" marL="1371600" marR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b="0" i="0" sz="457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70599" lvl="3" marL="1828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70598" lvl="4" marL="22860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70598" lvl="5" marL="27432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70598" lvl="6" marL="32004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70598" lvl="7" marL="36576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70598" lvl="8" marL="4114800" marR="0" rtl="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b="0" i="0" sz="381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55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b="0" i="0" sz="2287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hyperlink" Target="https://abracopel.org/" TargetMode="External"/><Relationship Id="rId8" Type="http://schemas.openxmlformats.org/officeDocument/2006/relationships/hyperlink" Target="https://abracopel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925" lIns="88925" spcFirstLastPara="1" rIns="88925" wrap="square" tIns="8892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4" y="13247955"/>
            <a:ext cx="20464108" cy="13034121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rPr lang="en-US"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		</a:t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51925" y="30646125"/>
            <a:ext cx="13572571" cy="7619522"/>
            <a:chOff x="0" y="25731"/>
            <a:chExt cx="1302300" cy="795133"/>
          </a:xfrm>
        </p:grpSpPr>
        <p:sp>
          <p:nvSpPr>
            <p:cNvPr id="107" name="Google Shape;107;p1"/>
            <p:cNvSpPr/>
            <p:nvPr/>
          </p:nvSpPr>
          <p:spPr>
            <a:xfrm>
              <a:off x="0" y="25731"/>
              <a:ext cx="1302166" cy="794058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186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4775" lIns="89600" spcFirstLastPara="1" rIns="89600" wrap="square" tIns="44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33"/>
                <a:buFont typeface="Arial"/>
                <a:buNone/>
              </a:pPr>
              <a:r>
                <a:t/>
              </a:r>
              <a:endParaRPr b="0" i="0" sz="6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25864"/>
              <a:ext cx="1302300" cy="79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150" lIns="87150" spcFirstLastPara="1" rIns="87150" wrap="square" tIns="8715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633"/>
                <a:buFont typeface="Arial"/>
                <a:buNone/>
              </a:pPr>
              <a:r>
                <a:t/>
              </a:r>
              <a:endParaRPr b="0" i="0" sz="66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0" y="29891400"/>
            <a:ext cx="12527234" cy="8372943"/>
            <a:chOff x="-4" y="-486996"/>
            <a:chExt cx="8764874" cy="5858260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-4" y="-486996"/>
              <a:ext cx="8764874" cy="5858260"/>
              <a:chOff x="-1" y="-73845"/>
              <a:chExt cx="1329057" cy="88831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1905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-1" y="-73845"/>
                <a:ext cx="1329000" cy="88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6800" lIns="96800" spcFirstLastPara="1" rIns="96800" wrap="square" tIns="9680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r>
                  <a:t/>
                </a:r>
                <a:endParaRPr b="0" i="0" sz="676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b="1" i="0" lang="en-US" sz="4762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b="1" i="0" lang="en-US" sz="507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000" lIns="89000" spcFirstLastPara="1" rIns="89000" wrap="square" tIns="8900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r>
                <a:t/>
              </a:r>
              <a:endParaRPr b="0" i="0" sz="676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r>
              <a:t/>
            </a:r>
            <a:endParaRPr b="0" i="0" sz="67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8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b="1" i="0" lang="en-US" sz="11434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SIGE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200" cy="1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Eduarda Lopes, Flávio Santos, Jenifer Jacino Barreto, Felipe Carvalho Paleari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0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Victor Rosetti, Rodnil Lisboa, Lucy Mari, Joao Trencher, Edson Barbero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15353293" y="15839628"/>
            <a:ext cx="1243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b="1" i="0" lang="en-US" sz="4762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15966975" y="31719851"/>
            <a:ext cx="11400000" cy="56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ABRACOPEL.</a:t>
            </a:r>
            <a:r>
              <a:rPr b="0" i="0" lang="en-US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Anuário Estatístico de Acidentes de Origem Elétrica 2024: ano base 2023. Itu, SP: Associação Brasileira de Conscientização para os Perigos da Eletricidade, 2024. Disponível em:</a:t>
            </a:r>
            <a:r>
              <a:rPr b="0" i="0" lang="en-US" sz="3400" u="none" cap="none" strike="noStrike">
                <a:solidFill>
                  <a:schemeClr val="dk1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34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8"/>
              </a:rPr>
              <a:t>https://abracopel.org/</a:t>
            </a:r>
            <a:r>
              <a:rPr b="0" i="0" lang="en-US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endParaRPr b="0" i="0" sz="3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i="0" lang="en-US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LLEGRO MICROSYSTEMS.</a:t>
            </a:r>
            <a:r>
              <a:rPr b="0" i="0" lang="en-US" sz="3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ACS712: Fully Integrated, Hall Effect-Based Linear Current Sensor IC with 2.1 kVRMS Voltage Isolation and a Low-Resistance Current Conductor. Worcester, MA, 2006. Datasheet </a:t>
            </a:r>
            <a:endParaRPr b="0" i="0" sz="34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95875" y="31750900"/>
            <a:ext cx="12562800" cy="6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Para organizar o funcionamento do sistema e o desenvolvimento do projeto: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1" marL="370296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Hardware: 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ESP32 (microcontrolador com Wi-Fi), sensores de corrente (ACS712, 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 ZMPT101B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 e relé de estado sólido (SSR40DA). 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Software e Comunicação: 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C++ (Arduino Framework), protocolo MQTT, comunicação via Wi-Fi e uso de JSON para estruturação dos dados. </a:t>
            </a:r>
            <a:r>
              <a:rPr b="1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Modelagem e Gestão: 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Máquina de Estados (FSM), metodologia Scrum e simulação do sistema na plataforma Wokwi.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95870" y="10749184"/>
            <a:ext cx="12562800" cy="8867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projeto parte da constatação de que há falta de visibilidade e controle sobre o consumo de energia elétrica em ambientes residenciais e comerciais. Os usuários não conseguem identificar quais equipamentos consomem mais nem acompanhar o uso em tempo real, percebendo o impacto apenas na conta. 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Esse cenário é agravado pela ausência de ferramentas de monitoramento entre os usuários, evidenciando uma lacuna tecnológica. O desperdício de energia no Brasil é elevado, e a falta de controle contribui para riscos como sobrecargas e incêndios, tornando o problema não apenas financeiro, mas também de eficiência e segurança.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70066" y="21125709"/>
            <a:ext cx="12562800" cy="8128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Propõe-se o desenvolvimento de um Sistema Inteligente de Gestão de Energia baseado em IoT, capaz de monitorar o consumo elétrico em tempo real e atuar preventivamente em situações de risco.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t/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sistema utiliza sensores de corrente, um ESP32 e comunicação via internet para coletar e transmitir dados continuamente. Além do monitoramento, permite identificar sobrecargas e acionar automaticamente a proteção dos circuitos, oferecendo ao usuário informações claras para tomada de decisão e redução de desperdícios.</a:t>
            </a:r>
            <a:endParaRPr b="0" i="0" sz="343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1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b="0" i="0" lang="en-US" sz="4955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617816" y="10880630"/>
            <a:ext cx="11904300" cy="34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sistema realiz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medições precisas de corrente, detect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rapidamente sobrecargas e atu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em tempo reduzido, aumentando a segurança das instalações. Também permit</a:t>
            </a:r>
            <a:r>
              <a:rPr lang="en-US" sz="3430"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monitoramento remoto em tempo real e registro histórico dos dados, auxiliando na análise do consumo.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714839" y="24653010"/>
            <a:ext cx="11652000" cy="20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r>
              <a:rPr b="0" i="0" lang="en-US" sz="343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resultado, projeta-se uma redução de 10% a 20% no consumo de energia, além da prevenção de riscos elétricos e maior eficiência no uso da energia.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" title="Diagrama em branco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353375" y="16475968"/>
            <a:ext cx="12433198" cy="6325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